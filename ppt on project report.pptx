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2" y="67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gs" Target="tags/tag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 /><Relationship Id="rId1" Type="http://schemas.openxmlformats.org/officeDocument/2006/relationships/tags" Target="../tags/tag3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 /><Relationship Id="rId1" Type="http://schemas.openxmlformats.org/officeDocument/2006/relationships/tags" Target="../tags/tag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.png" /><Relationship Id="rId4" Type="http://schemas.openxmlformats.org/officeDocument/2006/relationships/tags" Target="../tags/tag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3" Type="http://schemas.openxmlformats.org/officeDocument/2006/relationships/notesSlide" Target="../notesSlides/notesSlide1.xml" /><Relationship Id="rId7" Type="http://schemas.openxmlformats.org/officeDocument/2006/relationships/image" Target="../media/image5.png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5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svg" /><Relationship Id="rId9" Type="http://schemas.openxmlformats.org/officeDocument/2006/relationships/image" Target="../media/image7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6.xml" /><Relationship Id="rId4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7.xml" /><Relationship Id="rId4" Type="http://schemas.openxmlformats.org/officeDocument/2006/relationships/image" Target="../media/image9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8.xml" /><Relationship Id="rId4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9.xml" /><Relationship Id="rId4" Type="http://schemas.openxmlformats.org/officeDocument/2006/relationships/image" Target="../media/image11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0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3.xml" /><Relationship Id="rId4" Type="http://schemas.openxmlformats.org/officeDocument/2006/relationships/image" Target="../media/image1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4.xml" /><Relationship Id="rId4" Type="http://schemas.openxmlformats.org/officeDocument/2006/relationships/image" Target="../media/image1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 /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GB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Riddhi</a:t>
            </a:r>
            <a:r>
              <a:rPr lang="en-GB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Pandey 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GB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ridzi2210@gmail.com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GB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GB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R 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Objective:</a:t>
            </a:r>
            <a:r>
              <a:rPr lang="en-GB" dirty="0"/>
              <a:t> To address the critical underutilization of qualitative student feedback at National Post Graduate College using AI and Data Analytics.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Tools:</a:t>
            </a:r>
            <a:r>
              <a:rPr lang="en-GB" dirty="0"/>
              <a:t> Microsoft Excel (with Power Query), Power BI, and Microsoft </a:t>
            </a:r>
            <a:r>
              <a:rPr lang="en-GB" dirty="0" err="1"/>
              <a:t>Copilot</a:t>
            </a:r>
            <a:r>
              <a:rPr lang="en-GB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Key Highlight:</a:t>
            </a:r>
            <a:r>
              <a:rPr lang="en-GB" dirty="0"/>
              <a:t> Implements India’s first PG-specific feedback framework, differentiating postgraduate research-oriented expectations from undergraduate needs.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Outcome:</a:t>
            </a:r>
            <a:r>
              <a:rPr lang="en-GB" dirty="0"/>
              <a:t> A high-fidelity interactive dashboard that provides actionable intelligence for institutional decision-making.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b="1" dirty="0"/>
              <a:t>Core Issue:</a:t>
            </a:r>
            <a:r>
              <a:rPr lang="en-GB" sz="1600" dirty="0"/>
              <a:t> Lack of specialized tools to process unstructured, qualitative feedback effectively.</a:t>
            </a:r>
          </a:p>
          <a:p>
            <a:pPr rtl="0"/>
            <a:endParaRPr lang="en-GB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Innovation Gaps:</a:t>
            </a:r>
            <a:r>
              <a:rPr lang="en-GB" sz="1600" dirty="0"/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PG-UG Homogeneity:</a:t>
            </a:r>
            <a:r>
              <a:rPr lang="en-GB" sz="1600" dirty="0"/>
              <a:t> Existing systems treat postgraduate and undergraduate feedback identically.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Response Rate Distortion:</a:t>
            </a:r>
            <a:r>
              <a:rPr lang="en-GB" sz="1600" dirty="0"/>
              <a:t> Institutional KPIs are skewed by low (30-40%) response rates.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Mismatch:</a:t>
            </a:r>
            <a:r>
              <a:rPr lang="en-GB" sz="1600" dirty="0"/>
              <a:t> No cross-referencing between student perceptions of "subject currency" and actual faculty research output.</a:t>
            </a:r>
          </a:p>
          <a:p>
            <a:pPr lvl="1" rtl="0"/>
            <a:endParaRPr lang="en-GB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Target:</a:t>
            </a:r>
            <a:r>
              <a:rPr lang="en-GB" sz="1600" dirty="0"/>
              <a:t> Faculty and administrators at National Post Graduate College.</a:t>
            </a:r>
          </a:p>
          <a:p>
            <a:pPr rtl="0"/>
            <a:endParaRPr lang="en-GB" dirty="0"/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31609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Methodology:</a:t>
            </a:r>
            <a:r>
              <a:rPr lang="en-GB" dirty="0"/>
              <a:t> A specialized five-phase workflow: Calibration, </a:t>
            </a:r>
            <a:r>
              <a:rPr lang="en-GB" dirty="0" err="1"/>
              <a:t>Preprocessing</a:t>
            </a:r>
            <a:r>
              <a:rPr lang="en-GB" dirty="0"/>
              <a:t>, Alignment, Visualization, and QA.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Technical Steps:</a:t>
            </a:r>
            <a:r>
              <a:rPr lang="en-GB" dirty="0"/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Excel:</a:t>
            </a:r>
            <a:r>
              <a:rPr lang="en-GB" dirty="0"/>
              <a:t> Advanced cleaning and Inverse Probability Weighting to correct statistical bias.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Power BI:</a:t>
            </a:r>
            <a:r>
              <a:rPr lang="en-GB" dirty="0"/>
              <a:t> Developing DAX-based "Departmental Normalized Scores" and KPI cards.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Microsoft </a:t>
            </a:r>
            <a:r>
              <a:rPr lang="en-GB" b="1" dirty="0" err="1"/>
              <a:t>Copilot</a:t>
            </a:r>
            <a:r>
              <a:rPr lang="en-GB" b="1" dirty="0"/>
              <a:t>:</a:t>
            </a:r>
            <a:r>
              <a:rPr lang="en-GB" dirty="0"/>
              <a:t> Automating sentiment scoring and identifying recurring themes like "research paper discussions".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Key Innovation:</a:t>
            </a:r>
            <a:r>
              <a:rPr lang="en-GB" dirty="0"/>
              <a:t> Introduction of a </a:t>
            </a:r>
            <a:r>
              <a:rPr lang="en-GB" b="1" dirty="0"/>
              <a:t>Faculty Research-Feedback Alignment Index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/>
              <a:t>Raw CSV feedback from 300 postgraduate student records across Humanities, Sciences, and Commerce.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Data hygiene using Excel “Text-to-Columns” and “IFERROR” logic.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Qualitative theme extraction and hallucination control using a 5-question QA Protocol. 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600" dirty="0">
                <a:solidFill>
                  <a:srgbClr val="1A1A2E"/>
                </a:solidFill>
                <a:latin typeface="Lato" panose="020F0502020204030203" pitchFamily="34" charset="0"/>
                <a:cs typeface="Arial" panose="020B0604020202020204" pitchFamily="34" charset="0"/>
              </a:rPr>
              <a:t>Interactive Power BI Dashboards featuring a “Research-Feedback Gap Matrix”.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b="1" dirty="0"/>
              <a:t>Statistical Bias Correction:</a:t>
            </a:r>
            <a:r>
              <a:rPr lang="en-GB" sz="1600" dirty="0"/>
              <a:t> Demonstrating how Inverse Probability Weighting adjusted accuracy by 22%.</a:t>
            </a:r>
          </a:p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33572" y="3019837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b="1" dirty="0"/>
              <a:t>Sentiment Analysis:</a:t>
            </a:r>
            <a:r>
              <a:rPr lang="en-GB" sz="1600" dirty="0"/>
              <a:t> AI-assisted synthesis of qualitative suggestions (e.g., requests for interdisciplinary links).</a:t>
            </a:r>
          </a:p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Interactive KPIs: Slicers for filtering data by Department (e.g., M.Sc. Chemistry vs. M.A. English) and Semester.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r>
              <a:rPr lang="en-GB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 TO BE ADDED 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/>
            <a:r>
              <a:rPr lang="en-GB" dirty="0"/>
              <a:t>​</a:t>
            </a:r>
            <a:r>
              <a:rPr lang="en-GB" b="1" dirty="0"/>
              <a:t>Impact:</a:t>
            </a:r>
            <a:r>
              <a:rPr lang="en-GB" dirty="0"/>
              <a:t> Successfully transformed stagnant institutional data into a dynamic intelligence system.</a:t>
            </a:r>
          </a:p>
          <a:p>
            <a:pPr rtl="0"/>
            <a:r>
              <a:rPr lang="en-GB" dirty="0"/>
              <a:t>​</a:t>
            </a:r>
            <a:r>
              <a:rPr lang="en-GB" b="1" dirty="0"/>
              <a:t>Achievement:</a:t>
            </a:r>
            <a:r>
              <a:rPr lang="en-GB" dirty="0"/>
              <a:t> Established a scalable model for modernizing feedback loops in Indian higher education.</a:t>
            </a:r>
          </a:p>
          <a:p>
            <a:pPr rtl="0"/>
            <a:r>
              <a:rPr lang="en-GB" dirty="0"/>
              <a:t>​</a:t>
            </a:r>
            <a:r>
              <a:rPr lang="en-GB" b="1" dirty="0"/>
              <a:t>Value:</a:t>
            </a:r>
            <a:r>
              <a:rPr lang="en-GB" dirty="0"/>
              <a:t> Identified specific faculty development needs by bridging the gap between student expectations and research output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/>
            <a:r>
              <a:rPr lang="en-GB" b="1" dirty="0"/>
              <a:t>Real-time Integration:</a:t>
            </a:r>
            <a:r>
              <a:rPr lang="en-GB" dirty="0"/>
              <a:t> Using Power Automate to trigger analysis immediately upon form submission.</a:t>
            </a:r>
          </a:p>
          <a:p>
            <a:pPr rtl="0"/>
            <a:r>
              <a:rPr lang="en-GB" dirty="0"/>
              <a:t>​</a:t>
            </a:r>
            <a:r>
              <a:rPr lang="en-GB" b="1" dirty="0"/>
              <a:t>Predictive Analytics:</a:t>
            </a:r>
            <a:r>
              <a:rPr lang="en-GB" dirty="0"/>
              <a:t> Forecasting student satisfaction dips based on early-semester trends.</a:t>
            </a:r>
          </a:p>
          <a:p>
            <a:pPr rtl="0"/>
            <a:r>
              <a:rPr lang="en-GB" dirty="0"/>
              <a:t>​</a:t>
            </a:r>
            <a:r>
              <a:rPr lang="en-GB" b="1" dirty="0"/>
              <a:t>Scalability:</a:t>
            </a:r>
            <a:r>
              <a:rPr lang="en-GB" dirty="0"/>
              <a:t> Expanding the system to the entire college population (5000+ students).</a:t>
            </a:r>
          </a:p>
          <a:p>
            <a:pPr rtl="0"/>
            <a:r>
              <a:rPr lang="en-GB" dirty="0"/>
              <a:t>​</a:t>
            </a:r>
            <a:r>
              <a:rPr lang="en-GB" b="1" dirty="0"/>
              <a:t>Standardization:</a:t>
            </a:r>
            <a:r>
              <a:rPr lang="en-GB" dirty="0"/>
              <a:t> Developing a standardized AI prompt library for all academic departments.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468</Words>
  <Application>Microsoft Office PowerPoint</Application>
  <PresentationFormat>On-screen Show (16:9)</PresentationFormat>
  <Paragraphs>70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Riddhi Pandey</cp:lastModifiedBy>
  <cp:revision>27</cp:revision>
  <dcterms:created xsi:type="dcterms:W3CDTF">2026-02-18T09:17:23Z</dcterms:created>
  <dcterms:modified xsi:type="dcterms:W3CDTF">2026-03-29T17:11:45Z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